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D7"/>
          </a:solidFill>
          <a:ln w="12700">
            <a:solidFill>
              <a:srgbClr val="00C9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-640080"/>
            <a:ext cx="3200400" cy="3200400"/>
          </a:xfrm>
          <a:prstGeom prst="ellipse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C9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PROJECT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AutoIntel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5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Used Car Price Prediction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 •  Python  •  Scikit-Learn  •  Gradient Boosting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160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9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Ankush Sharma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26517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234440"/>
            <a:ext cx="2651760" cy="109728"/>
          </a:xfrm>
          <a:prstGeom prst="rect">
            <a:avLst/>
          </a:prstGeom>
          <a:solidFill>
            <a:srgbClr val="00C9D7"/>
          </a:solidFill>
          <a:ln w="12700">
            <a:solidFill>
              <a:srgbClr val="00C9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C9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Uncertainty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car buyers &amp; sellers struggle to determine fair market value without expert knowledge or access to real-time data.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72968" y="1234440"/>
            <a:ext cx="26517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72968" y="1234440"/>
            <a:ext cx="2651760" cy="109728"/>
          </a:xfrm>
          <a:prstGeom prst="rect">
            <a:avLst/>
          </a:prstGeom>
          <a:solidFill>
            <a:srgbClr val="00C9D7"/>
          </a:solidFill>
          <a:ln w="12700">
            <a:solidFill>
              <a:srgbClr val="00C9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C9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10128" y="2103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 Research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10128" y="260604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price comparisons across platforms are tedious, inconsistent and often lead to poor financial decisions.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25896" y="1234440"/>
            <a:ext cx="26517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25896" y="1234440"/>
            <a:ext cx="2651760" cy="109728"/>
          </a:xfrm>
          <a:prstGeom prst="rect">
            <a:avLst/>
          </a:prstGeom>
          <a:solidFill>
            <a:srgbClr val="00C9D7"/>
          </a:solidFill>
          <a:ln w="12700">
            <a:solidFill>
              <a:srgbClr val="00C9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63056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C9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163056" y="2103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Instant Valuation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163056" y="260604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are complex or subscription-based. No simple free tool provides instant AI-driven estimates with confidence ranges.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D7"/>
          </a:solidFill>
          <a:ln w="12700">
            <a:solidFill>
              <a:srgbClr val="00C9D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AutoIntel is a production-ready ML web app for instant car resale valuation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206240" cy="1508760"/>
          </a:xfrm>
          <a:prstGeom prst="rect">
            <a:avLst/>
          </a:prstGeom>
          <a:solidFill>
            <a:srgbClr val="1A2E44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73152" cy="1508760"/>
          </a:xfrm>
          <a:prstGeom prst="rect">
            <a:avLst/>
          </a:prstGeom>
          <a:solidFill>
            <a:srgbClr val="00C9D7"/>
          </a:solidFill>
          <a:ln w="12700">
            <a:solidFill>
              <a:srgbClr val="00C9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08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Prediction Engine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901952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model trained on 2,059 real listings. Returns price + confidence range instantly.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1371600"/>
            <a:ext cx="4206240" cy="1508760"/>
          </a:xfrm>
          <a:prstGeom prst="rect">
            <a:avLst/>
          </a:prstGeom>
          <a:solidFill>
            <a:srgbClr val="1A2E44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371600"/>
            <a:ext cx="73152" cy="1508760"/>
          </a:xfrm>
          <a:prstGeom prst="rect">
            <a:avLst/>
          </a:prstGeom>
          <a:solidFill>
            <a:srgbClr val="00C9D7"/>
          </a:solidFill>
          <a:ln w="12700">
            <a:solidFill>
              <a:srgbClr val="00C9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508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3480" y="1901952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endpoint /predict_api for programmatic access. Integrates with any frontend or mobile app.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063240"/>
            <a:ext cx="4206240" cy="1508760"/>
          </a:xfrm>
          <a:prstGeom prst="rect">
            <a:avLst/>
          </a:prstGeom>
          <a:solidFill>
            <a:srgbClr val="1A2E44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063240"/>
            <a:ext cx="73152" cy="1508760"/>
          </a:xfrm>
          <a:prstGeom prst="rect">
            <a:avLst/>
          </a:prstGeom>
          <a:solidFill>
            <a:srgbClr val="00C9D7"/>
          </a:solidFill>
          <a:ln w="12700">
            <a:solidFill>
              <a:srgbClr val="00C9D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200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Web UI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3593592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High-tech dark theme with neon accents, responsive design, smooth animations on all devices.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00600" y="3063240"/>
            <a:ext cx="4206240" cy="1508760"/>
          </a:xfrm>
          <a:prstGeom prst="rect">
            <a:avLst/>
          </a:prstGeom>
          <a:solidFill>
            <a:srgbClr val="1A2E44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3063240"/>
            <a:ext cx="73152" cy="1508760"/>
          </a:xfrm>
          <a:prstGeom prst="rect">
            <a:avLst/>
          </a:prstGeom>
          <a:solidFill>
            <a:srgbClr val="00C9D7"/>
          </a:solidFill>
          <a:ln w="12700">
            <a:solidFill>
              <a:srgbClr val="00C9D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3200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Ready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83480" y="3593592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with Procfile, runtime.txt, and CI/CD pipeline. Supports Heroku, Railway, Docker, AWS.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1965960" cy="41148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1887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600200"/>
            <a:ext cx="1965960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28800"/>
            <a:ext cx="109728" cy="109728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7393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542032"/>
            <a:ext cx="109728" cy="109728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4871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+ Animations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255264"/>
            <a:ext cx="109728" cy="109728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200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ES6+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968496"/>
            <a:ext cx="109728" cy="109728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91363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Fonts (Orbitron)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450592" y="1188720"/>
            <a:ext cx="1965960" cy="4114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50592" y="11887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450592" y="1600200"/>
            <a:ext cx="1965960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87752" y="1828800"/>
            <a:ext cx="109728" cy="10972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70632" y="177393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3.8+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87752" y="2542032"/>
            <a:ext cx="109728" cy="10972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70632" y="24871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3.0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587752" y="3255264"/>
            <a:ext cx="109728" cy="10972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70632" y="3200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2.1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587752" y="3968496"/>
            <a:ext cx="109728" cy="10972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70632" y="391363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1.26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81144" y="1188720"/>
            <a:ext cx="1965960" cy="41148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81144" y="11887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/ Data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81144" y="1600200"/>
            <a:ext cx="1965960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18304" y="1828800"/>
            <a:ext cx="109728" cy="109728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01184" y="177393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1.3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718304" y="2542032"/>
            <a:ext cx="109728" cy="109728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01184" y="24871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18304" y="3255264"/>
            <a:ext cx="109728" cy="109728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01184" y="3200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718304" y="3968496"/>
            <a:ext cx="109728" cy="109728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01184" y="391363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Joblib Serialization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711696" y="1188720"/>
            <a:ext cx="1965960" cy="4114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11696" y="11887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711696" y="1600200"/>
            <a:ext cx="1965960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48856" y="1828800"/>
            <a:ext cx="109728" cy="10972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31736" y="177393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CI/CD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848856" y="2542032"/>
            <a:ext cx="109728" cy="10972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31736" y="24871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Heroku / Railway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848856" y="3255264"/>
            <a:ext cx="109728" cy="10972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31736" y="3200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848856" y="3968496"/>
            <a:ext cx="109728" cy="10972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31736" y="391363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Procfile + runtime.txt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1965960" cy="1371600"/>
          </a:xfrm>
          <a:prstGeom prst="rect">
            <a:avLst/>
          </a:prstGeom>
          <a:solidFill>
            <a:srgbClr val="1A2E44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9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69.24%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57276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Accuracy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87168" y="868680"/>
            <a:ext cx="1965960" cy="1371600"/>
          </a:xfrm>
          <a:prstGeom prst="rect">
            <a:avLst/>
          </a:prstGeom>
          <a:solidFill>
            <a:srgbClr val="1A2E44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87168" y="9144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9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2,059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87168" y="157276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Records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87168" y="18745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car listings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08576" y="868680"/>
            <a:ext cx="1965960" cy="1371600"/>
          </a:xfrm>
          <a:prstGeom prst="rect">
            <a:avLst/>
          </a:prstGeom>
          <a:solidFill>
            <a:srgbClr val="1A2E44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08576" y="9144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9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08576" y="157276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Columns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08576" y="18745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encoding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29984" y="868680"/>
            <a:ext cx="1965960" cy="1371600"/>
          </a:xfrm>
          <a:prstGeom prst="rect">
            <a:avLst/>
          </a:prstGeom>
          <a:solidFill>
            <a:srgbClr val="1A2E44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9984" y="9144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9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729984" y="157276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29984" y="18745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split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2423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9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834640"/>
          <a:ext cx="8412480" cy="2011680"/>
        </p:xfrm>
        <a:graphic>
          <a:graphicData uri="http://schemas.openxmlformats.org/drawingml/2006/table">
            <a:tbl>
              <a:tblPr/>
              <a:tblGrid>
                <a:gridCol w="2377440"/>
                <a:gridCol w="1463040"/>
                <a:gridCol w="1463040"/>
                <a:gridCol w="1737360"/>
                <a:gridCol w="17373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Train R²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Test R²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MAE (₹)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RMSE (₹)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5D8E4"/>
                          </a:solidFill>
                        </a:rPr>
                        <a:t>Linear Regression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5D8E4"/>
                          </a:solidFill>
                        </a:rPr>
                        <a:t>0.840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5D8E4"/>
                          </a:solidFill>
                        </a:rPr>
                        <a:t>0.506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5D8E4"/>
                          </a:solidFill>
                        </a:rPr>
                        <a:t>8,60,323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5D8E4"/>
                          </a:solidFill>
                        </a:rPr>
                        <a:t>24,05,233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5D8E4"/>
                          </a:solidFill>
                        </a:rPr>
                        <a:t>Random Forest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5D8E4"/>
                          </a:solidFill>
                        </a:rPr>
                        <a:t>0.981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5D8E4"/>
                          </a:solidFill>
                        </a:rPr>
                        <a:t>0.669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5D8E4"/>
                          </a:solidFill>
                        </a:rPr>
                        <a:t>5,03,267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5D8E4"/>
                          </a:solidFill>
                        </a:rPr>
                        <a:t>19,69,465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C9D7"/>
                          </a:solidFill>
                        </a:rPr>
                        <a:t>✓ Gradient Boosting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C9D7"/>
                          </a:solidFill>
                        </a:rPr>
                        <a:t>0.968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C9D7"/>
                          </a:solidFill>
                        </a:rPr>
                        <a:t>0.692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C9D7"/>
                          </a:solidFill>
                        </a:rPr>
                        <a:t>5,00,899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C9D7"/>
                          </a:solidFill>
                        </a:rPr>
                        <a:t>18,97,467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03120" y="2606040"/>
            <a:ext cx="347472" cy="91440"/>
          </a:xfrm>
          <a:prstGeom prst="rect">
            <a:avLst/>
          </a:prstGeom>
          <a:solidFill>
            <a:srgbClr val="00C9D7"/>
          </a:solidFill>
          <a:ln w="12700">
            <a:solidFill>
              <a:srgbClr val="00C9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359152" y="245059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9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1993392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371600"/>
            <a:ext cx="685800" cy="68580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371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9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219456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4048" y="2651760"/>
            <a:ext cx="177393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car specs: brand, year, km driven, fuel type, transmission, engine, mileage, power, seats.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79392" y="2606040"/>
            <a:ext cx="347472" cy="91440"/>
          </a:xfrm>
          <a:prstGeom prst="rect">
            <a:avLst/>
          </a:prstGeom>
          <a:solidFill>
            <a:srgbClr val="00C9D7"/>
          </a:solidFill>
          <a:ln w="12700">
            <a:solidFill>
              <a:srgbClr val="00C9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35424" y="245059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9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450592" y="1188720"/>
            <a:ext cx="1993392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090672" y="1371600"/>
            <a:ext cx="685800" cy="68580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90672" y="1371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9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542032" y="219456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560320" y="2651760"/>
            <a:ext cx="177393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encodes categorical fields using one-hot encoding and aligns features to the 49-column trained schema.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55664" y="2606040"/>
            <a:ext cx="347472" cy="91440"/>
          </a:xfrm>
          <a:prstGeom prst="rect">
            <a:avLst/>
          </a:prstGeom>
          <a:solidFill>
            <a:srgbClr val="00C9D7"/>
          </a:solidFill>
          <a:ln w="12700">
            <a:solidFill>
              <a:srgbClr val="00C9D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11696" y="245059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9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26864" y="1188720"/>
            <a:ext cx="1993392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266944" y="1371600"/>
            <a:ext cx="685800" cy="68580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66944" y="1371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9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18304" y="219456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Prediction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36592" y="2651760"/>
            <a:ext cx="177393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model (loaded via Joblib) runs inference on the processed feature vector.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803136" y="1188720"/>
            <a:ext cx="1993392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443216" y="1371600"/>
            <a:ext cx="685800" cy="68580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43216" y="1371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9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94576" y="219456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+ Range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912864" y="2651760"/>
            <a:ext cx="177393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price is returned along with ±20% confidence range as JSON or rendered HTML result page.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 &amp; API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3886200"/>
          </a:xfrm>
          <a:prstGeom prst="rect">
            <a:avLst/>
          </a:prstGeom>
          <a:solidFill>
            <a:srgbClr val="0A1520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Project Layout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3840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D8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AutoIntel/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D8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app/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D8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├─ app.py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D8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├─ templates/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D8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└─ static/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D8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model/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D8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├─ train_model.py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D8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└─ car_price_model.pkl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D8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.github/workflows/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D8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requirements.txt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D8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Procfile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D8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 runtime.txt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914400"/>
            <a:ext cx="4160520" cy="3886200"/>
          </a:xfrm>
          <a:prstGeom prst="rect">
            <a:avLst/>
          </a:prstGeom>
          <a:solidFill>
            <a:srgbClr val="0A1520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005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API Endpoints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508760"/>
            <a:ext cx="640080" cy="25603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5087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0" y="15087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9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181965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the prediction form UI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560320"/>
            <a:ext cx="640080" cy="256032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25603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0" y="25603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9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/predict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287121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submission → HTML result page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3611880"/>
            <a:ext cx="640080" cy="256032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361188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0" y="36118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9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/predict_api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392277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API → returns predicted price + confidence range in INR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 &amp; CONCLUSION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Enhancements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4114800" cy="429768"/>
          </a:xfrm>
          <a:prstGeom prst="rect">
            <a:avLst/>
          </a:prstGeom>
          <a:solidFill>
            <a:srgbClr val="1A2E44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533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XGBoost &amp; LightGBM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34640" y="1371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accuracy beyond 69.24%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828800"/>
            <a:ext cx="4114800" cy="429768"/>
          </a:xfrm>
          <a:prstGeom prst="rect">
            <a:avLst/>
          </a:prstGeom>
          <a:solidFill>
            <a:srgbClr val="1A2E44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562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Location-based Pricing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34640" y="1874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City-wise market adjustments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331720"/>
            <a:ext cx="4114800" cy="429768"/>
          </a:xfrm>
          <a:prstGeom prst="rect">
            <a:avLst/>
          </a:prstGeom>
          <a:solidFill>
            <a:srgbClr val="1A2E44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3591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Image Recognition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34640" y="2377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car condition from photos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834640"/>
            <a:ext cx="4114800" cy="429768"/>
          </a:xfrm>
          <a:prstGeom prst="rect">
            <a:avLst/>
          </a:prstGeom>
          <a:solidFill>
            <a:srgbClr val="1A2E44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8620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Price Trend Charts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834640" y="28803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market visualizations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337560"/>
            <a:ext cx="4114800" cy="429768"/>
          </a:xfrm>
          <a:prstGeom prst="rect">
            <a:avLst/>
          </a:prstGeom>
          <a:solidFill>
            <a:srgbClr val="1A2E44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3649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Live Market Data API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834640" y="33832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pricing integration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868680"/>
            <a:ext cx="4069080" cy="2880360"/>
          </a:xfrm>
          <a:prstGeom prst="rect">
            <a:avLst/>
          </a:prstGeom>
          <a:solidFill>
            <a:srgbClr val="1A2E44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0600" y="868680"/>
            <a:ext cx="4069080" cy="91440"/>
          </a:xfrm>
          <a:prstGeom prst="rect">
            <a:avLst/>
          </a:prstGeom>
          <a:solidFill>
            <a:srgbClr val="00C9D7"/>
          </a:solidFill>
          <a:ln w="12700">
            <a:solidFill>
              <a:srgbClr val="00C9D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1005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37760" y="1463040"/>
            <a:ext cx="374904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5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outperforms Linear &amp; Random Forest on used car data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5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ML app deployable to cloud in minutes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5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JSON API enables easy third-party integration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5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UI improves user trust and experience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5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under MIT — ready for community contributions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github.com/010Ankushsharma/AutoIntel  •  autointel.onrender.com  •  Built with ❤️ by Ankush Sharma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AutoIntel - Car Price Prediction System</dc:title>
  <dc:subject>PptxGenJS Presentation</dc:subject>
  <dc:creator>PptxGenJS</dc:creator>
  <cp:lastModifiedBy>PptxGenJS</cp:lastModifiedBy>
  <cp:revision>1</cp:revision>
  <dcterms:created xsi:type="dcterms:W3CDTF">2026-04-09T16:10:35Z</dcterms:created>
  <dcterms:modified xsi:type="dcterms:W3CDTF">2026-04-09T16:10:35Z</dcterms:modified>
</cp:coreProperties>
</file>